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4"/>
    <p:sldMasterId id="2147483664" r:id="rId5"/>
  </p:sldMasterIdLst>
  <p:notesMasterIdLst>
    <p:notesMasterId r:id="rId8"/>
  </p:notesMasterIdLst>
  <p:sldIdLst>
    <p:sldId id="256" r:id="rId6"/>
    <p:sldId id="257" r:id="rId7"/>
  </p:sldIdLst>
  <p:sldSz cx="9144000" cy="5143500" type="screen16x9"/>
  <p:notesSz cx="7102475" cy="10233025"/>
  <p:embeddedFontLst>
    <p:embeddedFont>
      <p:font typeface="Gill Sans" panose="020B0604020202020204" charset="0"/>
      <p:regular r:id="rId9"/>
      <p:bold r:id="rId10"/>
    </p:embeddedFont>
    <p:embeddedFont>
      <p:font typeface="Impact" panose="020B0806030902050204" pitchFamily="34" charset="0"/>
      <p:regular r:id="rId11"/>
    </p:embeddedFont>
    <p:embeddedFont>
      <p:font typeface="Roboto Condensed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3">
          <p15:clr>
            <a:srgbClr val="9AA0A6"/>
          </p15:clr>
        </p15:guide>
        <p15:guide id="2" orient="horz" pos="454">
          <p15:clr>
            <a:srgbClr val="9AA0A6"/>
          </p15:clr>
        </p15:guide>
        <p15:guide id="3" orient="horz" pos="501">
          <p15:clr>
            <a:srgbClr val="9AA0A6"/>
          </p15:clr>
        </p15:guide>
        <p15:guide id="4" pos="3285">
          <p15:clr>
            <a:srgbClr val="9AA0A6"/>
          </p15:clr>
        </p15:guide>
        <p15:guide id="5" pos="520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C4495-A6F2-4166-8DE2-8AB9FEC69CBC}" v="5" dt="2022-05-09T08:38:03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pos="283"/>
        <p:guide orient="horz" pos="454"/>
        <p:guide orient="horz" pos="501"/>
        <p:guide pos="3285"/>
        <p:guide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94775" y="767475"/>
            <a:ext cx="6313500" cy="383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25" y="4860675"/>
            <a:ext cx="5681975" cy="46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4d4a72dff_1_127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d4d4a72dff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eab6824987_0_5:notes"/>
          <p:cNvSpPr txBox="1">
            <a:spLocks noGrp="1"/>
          </p:cNvSpPr>
          <p:nvPr>
            <p:ph type="body" idx="1"/>
          </p:nvPr>
        </p:nvSpPr>
        <p:spPr>
          <a:xfrm>
            <a:off x="709916" y="4924231"/>
            <a:ext cx="56826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eab682498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- Top">
  <p:cSld name="1_Title - Top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75047" y="361654"/>
            <a:ext cx="79086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>
                <a:solidFill>
                  <a:srgbClr val="955994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-1883" y="-10467"/>
            <a:ext cx="190500" cy="5164500"/>
          </a:xfrm>
          <a:prstGeom prst="rect">
            <a:avLst/>
          </a:prstGeom>
          <a:solidFill>
            <a:srgbClr val="955994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33413" y="1620738"/>
            <a:ext cx="7650000" cy="3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1pPr>
            <a:lvl2pPr marL="914400" lvl="1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2pPr>
            <a:lvl3pPr marL="1371600" lvl="2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3pPr>
            <a:lvl4pPr marL="1828800" lvl="3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4pPr>
            <a:lvl5pPr marL="2286000" lvl="4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632893" y="1105049"/>
            <a:ext cx="7650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None/>
              <a:defRPr sz="1400" i="1"/>
            </a:lvl1pPr>
            <a:lvl2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2pPr>
            <a:lvl3pPr marL="137160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3pPr>
            <a:lvl4pPr marL="182880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4pPr>
            <a:lvl5pPr marL="228600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54642" y="4890553"/>
            <a:ext cx="3597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75047" y="4831589"/>
            <a:ext cx="442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955994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3813" y="1"/>
            <a:ext cx="91916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9001125" y="-9525"/>
            <a:ext cx="142800" cy="5162700"/>
          </a:xfrm>
          <a:prstGeom prst="rect">
            <a:avLst/>
          </a:prstGeom>
          <a:solidFill>
            <a:srgbClr val="955994">
              <a:alpha val="49020"/>
            </a:srgbClr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Helvetica Neue Light"/>
              <a:buNone/>
            </a:pPr>
            <a:endParaRPr sz="1500" b="0" i="0" u="none" strike="noStrike" cap="none">
              <a:solidFill>
                <a:srgbClr val="A6AAA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" name="Google Shape;29;p4" descr="Image result for travelopia logo"/>
          <p:cNvPicPr preferRelativeResize="0"/>
          <p:nvPr/>
        </p:nvPicPr>
        <p:blipFill rotWithShape="1">
          <a:blip r:embed="rId3">
            <a:alphaModFix/>
          </a:blip>
          <a:srcRect t="12496" b="7503"/>
          <a:stretch/>
        </p:blipFill>
        <p:spPr>
          <a:xfrm>
            <a:off x="7698711" y="188105"/>
            <a:ext cx="1185765" cy="26804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206119" y="-7904"/>
            <a:ext cx="3919200" cy="1932600"/>
          </a:xfrm>
          <a:prstGeom prst="rect">
            <a:avLst/>
          </a:prstGeom>
          <a:solidFill>
            <a:srgbClr val="955994">
              <a:alpha val="48630"/>
            </a:srgbClr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Helvetica Neue Light"/>
              <a:buNone/>
            </a:pPr>
            <a:endParaRPr sz="1500" b="0" i="0" u="none" strike="noStrike" cap="none">
              <a:solidFill>
                <a:srgbClr val="A6AAA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256238" y="188105"/>
            <a:ext cx="3819000" cy="17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8400"/>
              <a:buFont typeface="Impact"/>
              <a:buNone/>
              <a:defRPr sz="4200" b="0" i="0" u="none" strike="noStrike" cap="none">
                <a:solidFill>
                  <a:srgbClr val="01BBA6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3031431" y="2264271"/>
            <a:ext cx="58032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None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None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None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None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None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Char char="•"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Char char="•"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Char char="•"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Char char="•"/>
              <a:defRPr sz="1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4484637" y="4905376"/>
            <a:ext cx="1698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Photo - purple">
  <p:cSld name="1_Photo - purp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374360" y="359505"/>
            <a:ext cx="4118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5500"/>
              <a:buFont typeface="Impact"/>
              <a:buNone/>
              <a:defRPr>
                <a:solidFill>
                  <a:srgbClr val="01BBA6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374359" y="1473302"/>
            <a:ext cx="40272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/>
          <p:nvPr/>
        </p:nvSpPr>
        <p:spPr>
          <a:xfrm rot="-5400000">
            <a:off x="4494677" y="494101"/>
            <a:ext cx="107100" cy="9191700"/>
          </a:xfrm>
          <a:prstGeom prst="rect">
            <a:avLst/>
          </a:prstGeom>
          <a:solidFill>
            <a:srgbClr val="01BBA6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5" descr="Image result for travelopia logo"/>
          <p:cNvPicPr preferRelativeResize="0"/>
          <p:nvPr/>
        </p:nvPicPr>
        <p:blipFill rotWithShape="1">
          <a:blip r:embed="rId2">
            <a:alphaModFix/>
          </a:blip>
          <a:srcRect t="12496" b="7503"/>
          <a:stretch/>
        </p:blipFill>
        <p:spPr>
          <a:xfrm>
            <a:off x="7698711" y="188105"/>
            <a:ext cx="1185765" cy="268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Photo - purple">
  <p:cSld name="2_Photo - purp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74360" y="359505"/>
            <a:ext cx="4118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D5E65"/>
              </a:buClr>
              <a:buSzPts val="5500"/>
              <a:buFont typeface="Impact"/>
              <a:buNone/>
              <a:defRPr>
                <a:solidFill>
                  <a:srgbClr val="CD5E65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374359" y="1473302"/>
            <a:ext cx="40272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/>
          <p:nvPr/>
        </p:nvSpPr>
        <p:spPr>
          <a:xfrm rot="-5400000">
            <a:off x="4494677" y="494101"/>
            <a:ext cx="107100" cy="9191700"/>
          </a:xfrm>
          <a:prstGeom prst="rect">
            <a:avLst/>
          </a:prstGeom>
          <a:solidFill>
            <a:srgbClr val="CD5E65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6" descr="Image result for travelopia logo"/>
          <p:cNvPicPr preferRelativeResize="0"/>
          <p:nvPr/>
        </p:nvPicPr>
        <p:blipFill rotWithShape="1">
          <a:blip r:embed="rId2">
            <a:alphaModFix/>
          </a:blip>
          <a:srcRect t="12496" b="7503"/>
          <a:stretch/>
        </p:blipFill>
        <p:spPr>
          <a:xfrm>
            <a:off x="7698711" y="188105"/>
            <a:ext cx="1185765" cy="268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Photo - purple">
  <p:cSld name="3_Photo - purp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74360" y="359505"/>
            <a:ext cx="4118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ECB66"/>
              </a:buClr>
              <a:buSzPts val="5500"/>
              <a:buFont typeface="Impact"/>
              <a:buNone/>
              <a:defRPr>
                <a:solidFill>
                  <a:srgbClr val="FECB66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74359" y="1473302"/>
            <a:ext cx="40272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400"/>
              <a:buNone/>
              <a:defRPr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/>
          <p:nvPr/>
        </p:nvSpPr>
        <p:spPr>
          <a:xfrm rot="-5400000">
            <a:off x="4494677" y="494101"/>
            <a:ext cx="107100" cy="9191700"/>
          </a:xfrm>
          <a:prstGeom prst="rect">
            <a:avLst/>
          </a:prstGeom>
          <a:solidFill>
            <a:srgbClr val="FECB66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" name="Google Shape;51;p7" descr="Image result for travelopia logo"/>
          <p:cNvPicPr preferRelativeResize="0"/>
          <p:nvPr/>
        </p:nvPicPr>
        <p:blipFill rotWithShape="1">
          <a:blip r:embed="rId2">
            <a:alphaModFix/>
          </a:blip>
          <a:srcRect t="12496" b="7503"/>
          <a:stretch/>
        </p:blipFill>
        <p:spPr>
          <a:xfrm>
            <a:off x="7698711" y="188105"/>
            <a:ext cx="1185765" cy="268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- Top">
  <p:cSld name="2_Title - Top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375047" y="1620740"/>
            <a:ext cx="8539200" cy="3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1pPr>
            <a:lvl2pPr marL="914400" lvl="1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2pPr>
            <a:lvl3pPr marL="1371600" lvl="2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3pPr>
            <a:lvl4pPr marL="1828800" lvl="3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4pPr>
            <a:lvl5pPr marL="2286000" lvl="4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375047" y="148105"/>
            <a:ext cx="79086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>
                <a:solidFill>
                  <a:srgbClr val="955994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-1883" y="-10467"/>
            <a:ext cx="190500" cy="5164500"/>
          </a:xfrm>
          <a:prstGeom prst="rect">
            <a:avLst/>
          </a:prstGeom>
          <a:solidFill>
            <a:srgbClr val="955994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384899" y="877722"/>
            <a:ext cx="8520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None/>
              <a:defRPr sz="1400" i="1"/>
            </a:lvl1pPr>
            <a:lvl2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2pPr>
            <a:lvl3pPr marL="137160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3pPr>
            <a:lvl4pPr marL="182880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4pPr>
            <a:lvl5pPr marL="228600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554642" y="4890553"/>
            <a:ext cx="3597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375047" y="4831589"/>
            <a:ext cx="442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955994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- Top">
  <p:cSld name="3_Title - Top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375047" y="1620740"/>
            <a:ext cx="4014300" cy="3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1pPr>
            <a:lvl2pPr marL="914400" lvl="1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2pPr>
            <a:lvl3pPr marL="1371600" lvl="2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3pPr>
            <a:lvl4pPr marL="1828800" lvl="3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4pPr>
            <a:lvl5pPr marL="2286000" lvl="4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375047" y="106776"/>
            <a:ext cx="79086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>
                <a:solidFill>
                  <a:srgbClr val="955994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-35719" y="-10467"/>
            <a:ext cx="190500" cy="5164500"/>
          </a:xfrm>
          <a:prstGeom prst="rect">
            <a:avLst/>
          </a:prstGeom>
          <a:solidFill>
            <a:srgbClr val="955994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375048" y="808835"/>
            <a:ext cx="83598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None/>
              <a:defRPr sz="1400" i="1"/>
            </a:lvl1pPr>
            <a:lvl2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2pPr>
            <a:lvl3pPr marL="137160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3pPr>
            <a:lvl4pPr marL="182880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4pPr>
            <a:lvl5pPr marL="228600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Gill Sans"/>
              <a:buChar char="•"/>
              <a:defRPr sz="1400"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554642" y="4890553"/>
            <a:ext cx="3597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375047" y="4831589"/>
            <a:ext cx="442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955994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3"/>
          </p:nvPr>
        </p:nvSpPr>
        <p:spPr>
          <a:xfrm>
            <a:off x="4527352" y="1620740"/>
            <a:ext cx="3756300" cy="3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1pPr>
            <a:lvl2pPr marL="914400" lvl="1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2pPr>
            <a:lvl3pPr marL="1371600" lvl="2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3pPr>
            <a:lvl4pPr marL="1828800" lvl="3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4pPr>
            <a:lvl5pPr marL="2286000" lvl="4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53585F"/>
              </a:buClr>
              <a:buSzPts val="1100"/>
              <a:buFont typeface="Noto Sans Symbols"/>
              <a:buChar char="▪"/>
              <a:defRPr sz="1400"/>
            </a:lvl5pPr>
            <a:lvl6pPr marL="274320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6pPr>
            <a:lvl7pPr marL="320040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7pPr>
            <a:lvl8pPr marL="365760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8pPr>
            <a:lvl9pPr marL="411480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rt style 2">
  <p:cSld name="Chart style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72944" y="1726920"/>
            <a:ext cx="5997900" cy="24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/>
          <p:nvPr/>
        </p:nvSpPr>
        <p:spPr>
          <a:xfrm>
            <a:off x="-35719" y="-10467"/>
            <a:ext cx="190500" cy="5164500"/>
          </a:xfrm>
          <a:prstGeom prst="rect">
            <a:avLst/>
          </a:prstGeom>
          <a:solidFill>
            <a:srgbClr val="01BBA6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375048" y="361654"/>
            <a:ext cx="78774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5500"/>
              <a:buFont typeface="Impact"/>
              <a:buNone/>
              <a:defRPr>
                <a:solidFill>
                  <a:srgbClr val="01BBA6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rt style 3">
  <p:cSld name="Chart style 3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1457" y="1545476"/>
            <a:ext cx="7329600" cy="26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-35719" y="-10467"/>
            <a:ext cx="190500" cy="5164500"/>
          </a:xfrm>
          <a:prstGeom prst="rect">
            <a:avLst/>
          </a:prstGeom>
          <a:solidFill>
            <a:srgbClr val="01BBA6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375048" y="361654"/>
            <a:ext cx="78774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5500"/>
              <a:buFont typeface="Impact"/>
              <a:buNone/>
              <a:defRPr>
                <a:solidFill>
                  <a:srgbClr val="01BBA6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rt style 4">
  <p:cSld name="Chart style 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1840" y="1428751"/>
            <a:ext cx="7358100" cy="28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/>
          <p:nvPr/>
        </p:nvSpPr>
        <p:spPr>
          <a:xfrm>
            <a:off x="-35719" y="-10467"/>
            <a:ext cx="190500" cy="5164500"/>
          </a:xfrm>
          <a:prstGeom prst="rect">
            <a:avLst/>
          </a:prstGeom>
          <a:solidFill>
            <a:srgbClr val="01BBA6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375048" y="361654"/>
            <a:ext cx="78774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5500"/>
              <a:buFont typeface="Impact"/>
              <a:buNone/>
              <a:defRPr>
                <a:solidFill>
                  <a:srgbClr val="01BBA6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6" name="Google Shape;8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rt style 5">
  <p:cSld name="Chart style 5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1457" y="1441253"/>
            <a:ext cx="7329600" cy="28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-35719" y="-10467"/>
            <a:ext cx="190500" cy="5164500"/>
          </a:xfrm>
          <a:prstGeom prst="rect">
            <a:avLst/>
          </a:prstGeom>
          <a:solidFill>
            <a:srgbClr val="01BBA6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375048" y="361654"/>
            <a:ext cx="78774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5500"/>
              <a:buFont typeface="Impact"/>
              <a:buNone/>
              <a:defRPr>
                <a:solidFill>
                  <a:srgbClr val="01BBA6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rt style 6">
  <p:cSld name="Chart style 6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9891" y="1422055"/>
            <a:ext cx="7361400" cy="28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-35719" y="-10467"/>
            <a:ext cx="190500" cy="5164500"/>
          </a:xfrm>
          <a:prstGeom prst="rect">
            <a:avLst/>
          </a:prstGeom>
          <a:solidFill>
            <a:srgbClr val="01BBA6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8708398" y="4844355"/>
            <a:ext cx="205800" cy="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800">
                <a:solidFill>
                  <a:srgbClr val="9559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375048" y="361654"/>
            <a:ext cx="78774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BBA6"/>
              </a:buClr>
              <a:buSzPts val="5500"/>
              <a:buFont typeface="Impact"/>
              <a:buNone/>
              <a:defRPr>
                <a:solidFill>
                  <a:srgbClr val="01BBA6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8275" y="120344"/>
            <a:ext cx="1186487" cy="26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20300" tIns="20300" rIns="20300" bIns="203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20300" tIns="20300" rIns="20300" bIns="203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- 5">
  <p:cSld name="Comparison - 5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76729" y="1569839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CB1"/>
              </a:buClr>
              <a:buSzPts val="1100"/>
              <a:buNone/>
              <a:defRPr sz="1100" b="0" i="0">
                <a:solidFill>
                  <a:srgbClr val="009CB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2"/>
          </p:nvPr>
        </p:nvSpPr>
        <p:spPr>
          <a:xfrm>
            <a:off x="876729" y="3819263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 b="0">
                <a:solidFill>
                  <a:srgbClr val="3F3F3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6" name="Google Shape;106;p16"/>
          <p:cNvSpPr>
            <a:spLocks noGrp="1"/>
          </p:cNvSpPr>
          <p:nvPr>
            <p:ph type="pic" idx="3"/>
          </p:nvPr>
        </p:nvSpPr>
        <p:spPr>
          <a:xfrm>
            <a:off x="876729" y="2402515"/>
            <a:ext cx="1418400" cy="123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4"/>
          </p:nvPr>
        </p:nvSpPr>
        <p:spPr>
          <a:xfrm>
            <a:off x="2390061" y="1569839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CB1"/>
              </a:buClr>
              <a:buSzPts val="1100"/>
              <a:buNone/>
              <a:defRPr sz="1100" b="0" i="0">
                <a:solidFill>
                  <a:srgbClr val="009CB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5"/>
          </p:nvPr>
        </p:nvSpPr>
        <p:spPr>
          <a:xfrm>
            <a:off x="2390061" y="3819263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 b="0">
                <a:solidFill>
                  <a:srgbClr val="3F3F3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9" name="Google Shape;109;p16"/>
          <p:cNvSpPr>
            <a:spLocks noGrp="1"/>
          </p:cNvSpPr>
          <p:nvPr>
            <p:ph type="pic" idx="6"/>
          </p:nvPr>
        </p:nvSpPr>
        <p:spPr>
          <a:xfrm>
            <a:off x="2390061" y="2402515"/>
            <a:ext cx="1418400" cy="123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7"/>
          </p:nvPr>
        </p:nvSpPr>
        <p:spPr>
          <a:xfrm>
            <a:off x="3903393" y="1569839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CB1"/>
              </a:buClr>
              <a:buSzPts val="1100"/>
              <a:buNone/>
              <a:defRPr sz="1100" b="0" i="0">
                <a:solidFill>
                  <a:srgbClr val="009CB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8"/>
          </p:nvPr>
        </p:nvSpPr>
        <p:spPr>
          <a:xfrm>
            <a:off x="3903393" y="3819263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 b="0">
                <a:solidFill>
                  <a:srgbClr val="3F3F3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16"/>
          <p:cNvSpPr>
            <a:spLocks noGrp="1"/>
          </p:cNvSpPr>
          <p:nvPr>
            <p:ph type="pic" idx="9"/>
          </p:nvPr>
        </p:nvSpPr>
        <p:spPr>
          <a:xfrm>
            <a:off x="3903393" y="2402515"/>
            <a:ext cx="1418400" cy="123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3"/>
          </p:nvPr>
        </p:nvSpPr>
        <p:spPr>
          <a:xfrm>
            <a:off x="5416725" y="1569839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CB1"/>
              </a:buClr>
              <a:buSzPts val="1100"/>
              <a:buNone/>
              <a:defRPr sz="1100" b="0" i="0">
                <a:solidFill>
                  <a:srgbClr val="009CB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4"/>
          </p:nvPr>
        </p:nvSpPr>
        <p:spPr>
          <a:xfrm>
            <a:off x="5416725" y="3819263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 b="0">
                <a:solidFill>
                  <a:srgbClr val="3F3F3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5" name="Google Shape;115;p16"/>
          <p:cNvSpPr>
            <a:spLocks noGrp="1"/>
          </p:cNvSpPr>
          <p:nvPr>
            <p:ph type="pic" idx="15"/>
          </p:nvPr>
        </p:nvSpPr>
        <p:spPr>
          <a:xfrm>
            <a:off x="5416725" y="2402515"/>
            <a:ext cx="1418400" cy="123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6"/>
          </p:nvPr>
        </p:nvSpPr>
        <p:spPr>
          <a:xfrm>
            <a:off x="6930057" y="1569839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CB1"/>
              </a:buClr>
              <a:buSzPts val="1100"/>
              <a:buNone/>
              <a:defRPr sz="1100" b="0" i="0">
                <a:solidFill>
                  <a:srgbClr val="009CB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7"/>
          </p:nvPr>
        </p:nvSpPr>
        <p:spPr>
          <a:xfrm>
            <a:off x="6930057" y="3819263"/>
            <a:ext cx="1418400" cy="6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 b="0">
                <a:solidFill>
                  <a:srgbClr val="3F3F3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6"/>
          <p:cNvSpPr>
            <a:spLocks noGrp="1"/>
          </p:cNvSpPr>
          <p:nvPr>
            <p:ph type="pic" idx="18"/>
          </p:nvPr>
        </p:nvSpPr>
        <p:spPr>
          <a:xfrm>
            <a:off x="6930057" y="2402515"/>
            <a:ext cx="1418400" cy="123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685800" y="456486"/>
            <a:ext cx="7772400" cy="8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75425" rIns="75425" bIns="75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/>
        </p:nvSpPr>
        <p:spPr>
          <a:xfrm>
            <a:off x="685800" y="1485186"/>
            <a:ext cx="7772400" cy="30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75425" rIns="75425" bIns="75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685800" y="4685942"/>
            <a:ext cx="19059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75425" rIns="75425" bIns="75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3123248" y="4685942"/>
            <a:ext cx="2897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75425" rIns="75425" bIns="75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6552248" y="4685942"/>
            <a:ext cx="1907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75425" rIns="75425" bIns="75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633413" y="1235087"/>
            <a:ext cx="7650000" cy="3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Gill Sans"/>
              <a:buChar char="•"/>
              <a:defRPr sz="2400" b="0" i="0" u="none" strike="noStrike" cap="none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35719" y="-10467"/>
            <a:ext cx="190500" cy="5164500"/>
          </a:xfrm>
          <a:prstGeom prst="rect">
            <a:avLst/>
          </a:prstGeom>
          <a:solidFill>
            <a:srgbClr val="955994">
              <a:alpha val="49800"/>
            </a:srgbClr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633413" y="910829"/>
            <a:ext cx="78774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576167" y="4812578"/>
            <a:ext cx="338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75048" y="4812578"/>
            <a:ext cx="448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pic>
        <p:nvPicPr>
          <p:cNvPr id="17" name="Google Shape;17;p2" descr="Image result for travelopia logo"/>
          <p:cNvPicPr preferRelativeResize="0"/>
          <p:nvPr/>
        </p:nvPicPr>
        <p:blipFill rotWithShape="1">
          <a:blip r:embed="rId17">
            <a:alphaModFix/>
          </a:blip>
          <a:srcRect t="12496" b="7503"/>
          <a:stretch/>
        </p:blipFill>
        <p:spPr>
          <a:xfrm>
            <a:off x="5412991" y="132261"/>
            <a:ext cx="833715" cy="18846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666750" y="3228512"/>
            <a:ext cx="7810500" cy="9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</a:pPr>
            <a:r>
              <a:rPr lang="en-US" dirty="0"/>
              <a:t>May 2022</a:t>
            </a:r>
            <a:endParaRPr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268106" y="1696650"/>
            <a:ext cx="8579100" cy="13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b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Impact"/>
              <a:buNone/>
            </a:pPr>
            <a:r>
              <a:rPr lang="en-US" sz="4800" dirty="0" err="1"/>
              <a:t>Travelopia</a:t>
            </a:r>
            <a:r>
              <a:rPr lang="en-US" sz="4800" dirty="0"/>
              <a:t> - Case study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B75A65-BBE8-1C67-7130-A62A1FDCF264}"/>
              </a:ext>
            </a:extLst>
          </p:cNvPr>
          <p:cNvSpPr txBox="1"/>
          <p:nvPr/>
        </p:nvSpPr>
        <p:spPr>
          <a:xfrm>
            <a:off x="447076" y="1125602"/>
            <a:ext cx="8596067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Executive Summary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Overall Satisfaction %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Breakdown by Customer Type (Loyal vs. Disloyal)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Breakdown by Type of Travel (Business vs. Personal)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Breakdown by Class (Eco, Eco Plus, Business)</a:t>
            </a:r>
          </a:p>
          <a:p>
            <a:pPr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Demographic Insights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Satisfaction by Age group and Gender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Which demographic groups report the highest dissatisfaction?</a:t>
            </a:r>
          </a:p>
          <a:p>
            <a:pPr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Service Performance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Top service factors correlated with satisfaction (e.g., inflight </a:t>
            </a:r>
            <a:r>
              <a:rPr lang="en-US" sz="1000" dirty="0" err="1">
                <a:solidFill>
                  <a:srgbClr val="424242"/>
                </a:solidFill>
                <a:latin typeface="Roboto Condensed"/>
                <a:ea typeface="Roboto Condensed"/>
              </a:rPr>
              <a:t>wifi</a:t>
            </a: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, seat comfort, cleanliness)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Ranking of service features by average rating (1–5 scale)</a:t>
            </a:r>
          </a:p>
          <a:p>
            <a:pPr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Operational Metrics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Average Departure &amp; Arrival Delay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Relationship between delays and satisfaction</a:t>
            </a:r>
          </a:p>
          <a:p>
            <a:pPr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Exploratory Analysis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Allow drill-down by Route distance (short-haul &lt;1000km, medium 1000–3000km, long-haul &gt;3000km)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Provide filters for Class, Type of Travel, Customer Type</a:t>
            </a:r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47076" y="82697"/>
            <a:ext cx="6870000" cy="35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2400"/>
              <a:buFont typeface="Impact"/>
              <a:buNone/>
            </a:pPr>
            <a:r>
              <a:rPr lang="en-US" sz="2000" dirty="0"/>
              <a:t>About the Dataset</a:t>
            </a:r>
            <a:endParaRPr sz="5400" dirty="0"/>
          </a:p>
        </p:txBody>
      </p:sp>
      <p:sp>
        <p:nvSpPr>
          <p:cNvPr id="133" name="Google Shape;133;p19"/>
          <p:cNvSpPr txBox="1"/>
          <p:nvPr/>
        </p:nvSpPr>
        <p:spPr>
          <a:xfrm>
            <a:off x="273967" y="295211"/>
            <a:ext cx="8596066" cy="617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12750" marR="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Arial"/>
              <a:buChar char="•"/>
            </a:pPr>
            <a:r>
              <a:rPr lang="en-US" dirty="0">
                <a:solidFill>
                  <a:srgbClr val="42424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have a dataset comprises of flight trip details of 25,976 passengers who have travelled across multiple destinations</a:t>
            </a:r>
          </a:p>
          <a:p>
            <a:pPr marL="412750" marR="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Arial"/>
              <a:buChar char="•"/>
            </a:pPr>
            <a:r>
              <a:rPr lang="en-US" b="0" i="0" u="none" strike="noStrike" cap="none" dirty="0">
                <a:solidFill>
                  <a:srgbClr val="42424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overall experience of </a:t>
            </a:r>
            <a:r>
              <a:rPr lang="en-US" dirty="0">
                <a:solidFill>
                  <a:srgbClr val="42424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each traveler is captured against multiple factors such as flight distance, </a:t>
            </a:r>
            <a:r>
              <a:rPr lang="en-US" dirty="0" err="1">
                <a:solidFill>
                  <a:srgbClr val="42424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wifi</a:t>
            </a:r>
            <a:r>
              <a:rPr lang="en-US" dirty="0">
                <a:solidFill>
                  <a:srgbClr val="42424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service, Time of Departure/Arrival etc.  </a:t>
            </a:r>
          </a:p>
          <a:p>
            <a:pPr marL="412750" marR="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Arial"/>
              <a:buChar char="•"/>
            </a:pPr>
            <a:r>
              <a:rPr lang="en-US" dirty="0">
                <a:solidFill>
                  <a:srgbClr val="42424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feel free to make any assumptions, but clearly call those out during the discussion</a:t>
            </a:r>
          </a:p>
        </p:txBody>
      </p:sp>
      <p:sp>
        <p:nvSpPr>
          <p:cNvPr id="5" name="Google Shape;132;p19">
            <a:extLst>
              <a:ext uri="{FF2B5EF4-FFF2-40B4-BE49-F238E27FC236}">
                <a16:creationId xmlns:a16="http://schemas.microsoft.com/office/drawing/2014/main" id="{6788B5C8-1B22-40B5-9618-7BBAB00CCE39}"/>
              </a:ext>
            </a:extLst>
          </p:cNvPr>
          <p:cNvSpPr txBox="1">
            <a:spLocks/>
          </p:cNvSpPr>
          <p:nvPr/>
        </p:nvSpPr>
        <p:spPr>
          <a:xfrm>
            <a:off x="447076" y="825598"/>
            <a:ext cx="6870000" cy="36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>
              <a:buSzPts val="2400"/>
            </a:pPr>
            <a:r>
              <a:rPr lang="en-US" sz="2000" dirty="0"/>
              <a:t>Business questions that require your assistance</a:t>
            </a:r>
            <a:endParaRPr lang="en-US" sz="5400" dirty="0"/>
          </a:p>
        </p:txBody>
      </p:sp>
      <p:sp>
        <p:nvSpPr>
          <p:cNvPr id="7" name="Google Shape;132;p19">
            <a:extLst>
              <a:ext uri="{FF2B5EF4-FFF2-40B4-BE49-F238E27FC236}">
                <a16:creationId xmlns:a16="http://schemas.microsoft.com/office/drawing/2014/main" id="{8E10053B-F13C-492E-AC21-482FBB408CB7}"/>
              </a:ext>
            </a:extLst>
          </p:cNvPr>
          <p:cNvSpPr txBox="1">
            <a:spLocks/>
          </p:cNvSpPr>
          <p:nvPr/>
        </p:nvSpPr>
        <p:spPr>
          <a:xfrm>
            <a:off x="377803" y="3779572"/>
            <a:ext cx="6870000" cy="36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55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55994"/>
              </a:buClr>
              <a:buSzPts val="1400"/>
              <a:buFont typeface="Impact"/>
              <a:buNone/>
              <a:defRPr sz="5500" b="0" i="0" u="none" strike="noStrike" cap="none">
                <a:solidFill>
                  <a:srgbClr val="955994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>
              <a:buSzPts val="2400"/>
            </a:pPr>
            <a:r>
              <a:rPr lang="en-US" sz="2000" dirty="0"/>
              <a:t>Expected Outcome</a:t>
            </a:r>
            <a:endParaRPr lang="en-US" sz="5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DDEFF6-1F3D-0A60-A135-143E623C0A9A}"/>
              </a:ext>
            </a:extLst>
          </p:cNvPr>
          <p:cNvSpPr txBox="1"/>
          <p:nvPr/>
        </p:nvSpPr>
        <p:spPr>
          <a:xfrm>
            <a:off x="447076" y="4060939"/>
            <a:ext cx="81704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A Power BI report (.</a:t>
            </a:r>
            <a:r>
              <a:rPr lang="en-US" sz="1000" dirty="0" err="1">
                <a:solidFill>
                  <a:srgbClr val="424242"/>
                </a:solidFill>
                <a:latin typeface="Roboto Condensed"/>
                <a:ea typeface="Roboto Condensed"/>
              </a:rPr>
              <a:t>pbix</a:t>
            </a: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)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At least 3 interactive pages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Visualizations like bar/column charts, heatmaps, scatter plots, slicers</a:t>
            </a:r>
          </a:p>
          <a:p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A short write-up (1–2 slides) summarizing key insights and recommendations for </a:t>
            </a:r>
            <a:r>
              <a:rPr lang="en-US" sz="1000" dirty="0" err="1">
                <a:solidFill>
                  <a:srgbClr val="424242"/>
                </a:solidFill>
                <a:latin typeface="Roboto Condensed"/>
                <a:ea typeface="Roboto Condensed"/>
              </a:rPr>
              <a:t>Travelopia</a:t>
            </a:r>
            <a:r>
              <a:rPr lang="en-US" sz="1000" dirty="0">
                <a:solidFill>
                  <a:srgbClr val="424242"/>
                </a:solidFill>
                <a:latin typeface="Roboto Condensed"/>
                <a:ea typeface="Roboto Condensed"/>
              </a:rPr>
              <a:t> Airlines.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Travelopia">
      <a:dk1>
        <a:srgbClr val="53585F"/>
      </a:dk1>
      <a:lt1>
        <a:srgbClr val="DCDEE0"/>
      </a:lt1>
      <a:dk2>
        <a:srgbClr val="466D93"/>
      </a:dk2>
      <a:lt2>
        <a:srgbClr val="FEFFFF"/>
      </a:lt2>
      <a:accent1>
        <a:srgbClr val="01BBA6"/>
      </a:accent1>
      <a:accent2>
        <a:srgbClr val="955994"/>
      </a:accent2>
      <a:accent3>
        <a:srgbClr val="CD5E65"/>
      </a:accent3>
      <a:accent4>
        <a:srgbClr val="FECB66"/>
      </a:accent4>
      <a:accent5>
        <a:srgbClr val="466D93"/>
      </a:accent5>
      <a:accent6>
        <a:srgbClr val="FEFFFF"/>
      </a:accent6>
      <a:hlink>
        <a:srgbClr val="CD5E65"/>
      </a:hlink>
      <a:folHlink>
        <a:srgbClr val="7F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3B10EBFDCD0443A464515B05D57BF1" ma:contentTypeVersion="2" ma:contentTypeDescription="Create a new document." ma:contentTypeScope="" ma:versionID="e5df30ba51c7abc53761686e1d3c321b">
  <xsd:schema xmlns:xsd="http://www.w3.org/2001/XMLSchema" xmlns:xs="http://www.w3.org/2001/XMLSchema" xmlns:p="http://schemas.microsoft.com/office/2006/metadata/properties" xmlns:ns2="39b1f7f3-f2e1-4725-8925-bfd1d827ce46" targetNamespace="http://schemas.microsoft.com/office/2006/metadata/properties" ma:root="true" ma:fieldsID="0de1fc9183d99a6668d117eda279571a" ns2:_="">
    <xsd:import namespace="39b1f7f3-f2e1-4725-8925-bfd1d827ce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1f7f3-f2e1-4725-8925-bfd1d827c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01378-53E2-4391-9591-872FBB924CB8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39b1f7f3-f2e1-4725-8925-bfd1d827ce46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6410FE1-1244-4A3E-AA62-3132529EB0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b1f7f3-f2e1-4725-8925-bfd1d827c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52B430-9FFB-4466-A1FE-F0AA137644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247</Words>
  <Application>Microsoft Office PowerPoint</Application>
  <PresentationFormat>On-screen Show (16:9)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Gill Sans</vt:lpstr>
      <vt:lpstr>Arial</vt:lpstr>
      <vt:lpstr>Roboto Condensed</vt:lpstr>
      <vt:lpstr>Impact</vt:lpstr>
      <vt:lpstr>Office Theme</vt:lpstr>
      <vt:lpstr>White</vt:lpstr>
      <vt:lpstr>Travelopia - Case study</vt:lpstr>
      <vt:lpstr>About the 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Insights and Analytics</dc:title>
  <dc:creator>Arindam Banerjee</dc:creator>
  <cp:lastModifiedBy>Naveed Afroz</cp:lastModifiedBy>
  <cp:revision>2</cp:revision>
  <dcterms:modified xsi:type="dcterms:W3CDTF">2025-08-25T08:34:09Z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0x010100D33B10EBFDCD0443A464515B05D57BF1</vt:lpwstr>
  </property>
</Properties>
</file>